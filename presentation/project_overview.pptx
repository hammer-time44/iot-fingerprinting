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presenting our project on Encrypted IoT Device Fingerprinting.</a:t>
            </a:r>
          </a:p>
          <a:p>
            <a:r>
              <a:t>In modern smart homes, dozens of connected devices operate simultaneously—from smart speakers to security cameras. While nearly all of their traffic is encrypted to safeguard user privacy, the physical hardware, operating systems, and firmware of these devices transmit packets according to distinct, repeatable timing rhythms.</a:t>
            </a:r>
          </a:p>
          <a:p>
            <a:r>
              <a:t>In this work, we demonstrate how a gateway can accurately recognize five distinct IoT devices with over ninety-nine percent accuracy using purely inter-packet arrival times—without decrypting, inspecting, or storing a single byte of application payload.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IoT device identification so difficult?</a:t>
            </a:r>
          </a:p>
          <a:p>
            <a:r>
              <a:t>First, modern privacy standards encrypt traffic end-to-end. Traditional firewalls and intrusion detection tools that rely on Deep Packet Inspection are completely blind.</a:t>
            </a:r>
          </a:p>
          <a:p>
            <a:r>
              <a:t>Second, network-layer identifiers like MAC and IP addresses are easily spoofed by malicious software.</a:t>
            </a:r>
          </a:p>
          <a:p>
            <a:r>
              <a:t>Finally, consumers rarely patch or configure smart appliances, leaving home gateways with zero visibility into what hardware is actually running on their local network.</a:t>
            </a:r>
          </a:p>
          <a:p>
            <a:r>
              <a:t>We need a passive, physical-layer-adjacent method to verify identity without breaking encryption.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foundational premise of our project is that timing leaks identity.</a:t>
            </a:r>
          </a:p>
          <a:p>
            <a:r>
              <a:t>Even when payloads are strongly encrypted and randomized, the underlying hardware cannot hide when it transmits.</a:t>
            </a:r>
          </a:p>
          <a:p>
            <a:r>
              <a:t>A camera encoding H.264 video streams packets in dense bursts driven by frame rates. A smart plug queries local sensors on a fixed microcontroller clock cycle. A smart speaker bursts network traffic only when audio processing buffers fill.</a:t>
            </a:r>
          </a:p>
          <a:p>
            <a:r>
              <a:t>Think of it like recognizing someone walking down a hallway purely by the rhythm and cadence of their footsteps, even in total darkness.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real packet timeline traces illustrating the stark differences between device profiles.</a:t>
            </a:r>
          </a:p>
          <a:p>
            <a:r>
              <a:t>Notice the top trace: an Amazon Echo sits completely quiet until voice interaction triggers a dense burst of cloud requests.</a:t>
            </a:r>
          </a:p>
          <a:p>
            <a:r>
              <a:t>In the middle trace, a Samsung security camera streams continuous, dense packets to maintain real-time video feeds.</a:t>
            </a:r>
          </a:p>
          <a:p>
            <a:r>
              <a:t>At the bottom, a TP-Link smart plug operates on a barebones microcontroller, emitting sparse, periodic heartbeat pings every few minutes.</a:t>
            </a:r>
          </a:p>
          <a:p>
            <a:r>
              <a:t>These timing rhythms are physically coupled to hardware function and cannot be concealed without adding deliberate, latency-inducing traffic padding.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processing pipeline. It consists of five streamlined steps.</a:t>
            </a:r>
          </a:p>
          <a:p>
            <a:r>
              <a:t>First, we capture raw network traffic from the gateway interface.</a:t>
            </a:r>
          </a:p>
          <a:p>
            <a:r>
              <a:t>Second, we compute Inter-Arrival Time deltas between successive packets for each IP stream.</a:t>
            </a:r>
          </a:p>
          <a:p>
            <a:r>
              <a:t>Third, we segment these deltas into non-overlapping windows of 128 packets.</a:t>
            </a:r>
          </a:p>
          <a:p>
            <a:r>
              <a:t>Fourth, we calculate thirteen lightweight summary statistics per window.</a:t>
            </a:r>
          </a:p>
          <a:p>
            <a:r>
              <a:t>Finally, a Random Forest classifier evaluates the feature vector and outputs the device identity.</a:t>
            </a:r>
          </a:p>
          <a:p>
            <a:r>
              <a:t>The entire feature extraction requires simple arithmetic operations that can run natively on consumer router hardware.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empirical evaluation is grounded in the benchmark UNSW Smart Home dataset, collected over three continuous days in a live testbed environment.</a:t>
            </a:r>
          </a:p>
          <a:p>
            <a:r>
              <a:t>The capture contains nearly one million raw packets across five popular consumer devices: the Amazon Echo smart speaker, the Belkin WeMo motion sensor, the Philips Hue smart lighting bridge, a Samsung smart security camera, and a TP-Link smart plug.</a:t>
            </a:r>
          </a:p>
          <a:p>
            <a:r>
              <a:t>Segmenting into 128-packet chunks yielded 7,606 feature windows, giving us a robust distribution across both high-bandwidth streaming and low-power telemetry devices.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using complex wavelets or heavy deep learning that would struggle on embedded routers, we extract thirteen statistical timing moments for each window.</a:t>
            </a:r>
          </a:p>
          <a:p>
            <a:r>
              <a:t>These include standard measures like mean, standard deviation, min, and max to capture baseline bandwidth and idle gaps.</a:t>
            </a:r>
          </a:p>
          <a:p>
            <a:r>
              <a:t>More importantly, percentiles—specifically the 25th, 75th, and median—capture the fixed clock cycles of device microcontrollers.</a:t>
            </a:r>
          </a:p>
          <a:p>
            <a:r>
              <a:t>Kurtosis and skewness capture sudden traffic spikes versus steady streaming. Finally, signal energy and entropy quantify burst irregularity without inspecting a single byte of payload.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classification, we use a Random Forest ensemble with 100 decision trees.</a:t>
            </a:r>
          </a:p>
          <a:p>
            <a:r>
              <a:t>But our primary focus was methodological rigor. Standard random cross-validation leaks temporal patterns because packets from the same session appear in both training and testing.</a:t>
            </a:r>
          </a:p>
          <a:p>
            <a:r>
              <a:t>To avoid this fatal flaw, we implemented contiguous one-hour block splitting: the first 70% of chronological time blocks formed our training set (5,468 windows), the next 15% formed our validation set (1,071 windows), and the final 15% formed our held-out test set (1,067 windows).</a:t>
            </a:r>
          </a:p>
          <a:p>
            <a:r>
              <a:t>The test set was touched exactly once after all hyperparameters were locked.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final test results on the held-out temporal partition.</a:t>
            </a:r>
          </a:p>
          <a:p>
            <a:r>
              <a:t>The model achieved 99.34% overall test accuracy and a 99.38% macro F1-score across all 1,067 test windows.</a:t>
            </a:r>
          </a:p>
          <a:p>
            <a:r>
              <a:t>Looking at the per-device chart on the left, four of the five devices scored over 99% F1, with Belkin WeMo at 99.8% and TP-Link Plug at 100%.</a:t>
            </a:r>
          </a:p>
          <a:p>
            <a:r>
              <a:t>On the right, our feature importance analysis reveals that the 75th percentile and median IAT account for over 30% of decision tree splits.</a:t>
            </a:r>
          </a:p>
          <a:p>
            <a:r>
              <a:t>This confirms our hypothesis: fixed microcontroller polling intervals provide the strongest fingerprint for device identification.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honestly assess what the current system can and cannot do.</a:t>
            </a:r>
          </a:p>
          <a:p>
            <a:r>
              <a:t>On the capability side, it operates entirely without payload decryption, preserving end-to-end user privacy. Feature extraction and tree inference take less than a millisecond per window, easily fitting within router CPU and memory budgets.</a:t>
            </a:r>
          </a:p>
          <a:p>
            <a:r>
              <a:t>However, real-world constraints exist: extreme Wi-Fi congestion or latency jitter can distort inter-arrival intervals.</a:t>
            </a:r>
          </a:p>
          <a:p>
            <a:r>
              <a:t>Furthermore, two identical hardware models running the same firmware emit identical fingerprints.</a:t>
            </a:r>
          </a:p>
          <a:p>
            <a:r>
              <a:t>Finally, standard classifiers assume a closed world, classifying every unseen packet as one of the known five.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crystal clear about project status:</a:t>
            </a:r>
          </a:p>
          <a:p>
            <a:r>
              <a:t>The completed, fully validated portion is our 13-feature timing extractor and 5-device Random Forest classifier, along with our interactive presentation dashboard.</a:t>
            </a:r>
          </a:p>
          <a:p>
            <a:r>
              <a:t>What remains as planned future work is two-fold: first, robust open-set unknown device detection to reliably reject rogue hardware, and second, automated router-level enforcement using Linux iptables or OpenWrt firewall rules to quarantine unverified devices onto an isolated VLAN.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outlines our planned gateway interceptor architecture.</a:t>
            </a:r>
          </a:p>
          <a:p>
            <a:r>
              <a:t>When an active device transmits 128 packets, the gateway extracts its timing fingerprint and queries the Random Forest.</a:t>
            </a:r>
          </a:p>
          <a:p>
            <a:r>
              <a:t>We calibrated an anomaly threshold on the validation split: if tree agreement falls below 84%, the traffic is flagged as an unknown anomaly.</a:t>
            </a:r>
          </a:p>
          <a:p>
            <a:r>
              <a:t>In preliminary leave-one-out experiments, this threshold successfully flagged 89.6% of unseen device windows while maintaining a 4% false alarm rate on known devices.</a:t>
            </a:r>
          </a:p>
          <a:p>
            <a:r>
              <a:t>Future router integrations will automatically redirect flagged traffic to a captive quarantine VLAN.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Whenever we discuss traffic fingerprinting, privacy and ethical implications must be front and center.</a:t>
            </a:r>
          </a:p>
          <a:p>
            <a:r>
              <a:t>From a defensive perspective, this approach is privacy-preserving because network administrators can inventory smart devices without decrypting sensitive personal messages, health data, or video streams.</a:t>
            </a:r>
          </a:p>
          <a:p>
            <a:r>
              <a:t>However, the exact same timing side-channels present a surveillance risk: an external eavesdropper passively monitoring home Wi-Fi can infer when occupants wake up, leave home, or sleep, purely from device traffic bursts.</a:t>
            </a:r>
          </a:p>
          <a:p>
            <a:r>
              <a:t>Defending against such side-channel leaks may require deliberate traffic shaping at the device level.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presentation:</a:t>
            </a:r>
          </a:p>
          <a:p>
            <a:r>
              <a:t>First, packet timing is a remarkably robust fingerprint for IoT hardware, achieving 99.34% accuracy without touching encrypted payloads.</a:t>
            </a:r>
          </a:p>
          <a:p>
            <a:r>
              <a:t>Second, statistical quantiles like median and 75th percentile IAT capture hardware clock cycles most effectively.</a:t>
            </a:r>
          </a:p>
          <a:p>
            <a:r>
              <a:t>Third, our next steps will focus on moving beyond the closed-set model to harden unknown device rejection and implement automated gateway isolation.</a:t>
            </a:r>
          </a:p>
          <a:p>
            <a:r>
              <a:t>Thank you for your time, and I am now happy to open the floor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291840"/>
          </a:xfrm>
          <a:prstGeom prst="rect">
            <a:avLst/>
          </a:prstGeom>
          <a:noFill/>
        </p:spPr>
        <p:txBody>
          <a:bodyPr wrap="square">
            <a:spAutoFit/>
          </a:bodyPr>
          <a:lstStyle/>
          <a:p>
            <a:pPr>
              <a:spcAft>
                <a:spcPts val="1400"/>
              </a:spcAft>
              <a:defRPr sz="1300" b="1">
                <a:solidFill>
                  <a:srgbClr val="38BDF8"/>
                </a:solidFill>
                <a:latin typeface="Helvetica"/>
              </a:defRPr>
            </a:pPr>
            <a:r>
              <a:t>IOT NETWORK SECURITY &amp; MACHINE LEARNING</a:t>
            </a:r>
          </a:p>
          <a:p>
            <a:pPr>
              <a:spcAft>
                <a:spcPts val="1200"/>
              </a:spcAft>
              <a:defRPr sz="4000" b="1">
                <a:solidFill>
                  <a:srgbClr val="F8FAFC"/>
                </a:solidFill>
                <a:latin typeface="Helvetica"/>
              </a:defRPr>
            </a:pPr>
            <a:r>
              <a:t>Encrypted IoT Device Fingerprinting</a:t>
            </a:r>
          </a:p>
          <a:p>
            <a:pPr>
              <a:spcAft>
                <a:spcPts val="2800"/>
              </a:spcAft>
              <a:defRPr sz="2000">
                <a:solidFill>
                  <a:srgbClr val="94A3B8"/>
                </a:solidFill>
                <a:latin typeface="Arial"/>
              </a:defRPr>
            </a:pPr>
            <a:r>
              <a:t>Passive hardware identification via inter-packet timing rhythms</a:t>
            </a:r>
          </a:p>
          <a:p>
            <a:pPr>
              <a:defRPr sz="1600" b="1">
                <a:solidFill>
                  <a:srgbClr val="38BDF8"/>
                </a:solidFill>
                <a:latin typeface="Helvetica"/>
              </a:defRPr>
            </a:pPr>
            <a:r>
              <a:t>5 Smart Devices  •  99.34% Accuracy  •  Zero Payload Decryption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PROBLEM &amp; MOTIVATION</a:t>
            </a:r>
          </a:p>
          <a:p>
            <a:pPr>
              <a:defRPr sz="3200" b="1">
                <a:solidFill>
                  <a:srgbClr val="F8FAFC"/>
                </a:solidFill>
                <a:latin typeface="Helvetica"/>
              </a:defRPr>
            </a:pPr>
            <a:r>
              <a:t>The Smart Home Blind Spot</a:t>
            </a:r>
          </a:p>
          <a:p>
            <a:pPr>
              <a:spcBef>
                <a:spcPts val="300"/>
              </a:spcBef>
              <a:defRPr sz="1500">
                <a:solidFill>
                  <a:srgbClr val="94A3B8"/>
                </a:solidFill>
                <a:latin typeface="Arial"/>
              </a:defRPr>
            </a:pPr>
            <a:r>
              <a:t>Why traditional network security fails on modern consumer IoT</a:t>
            </a:r>
          </a:p>
        </p:txBody>
      </p:sp>
      <p:sp>
        <p:nvSpPr>
          <p:cNvPr id="4" name="Rounded Rectangle 3"/>
          <p:cNvSpPr/>
          <p:nvPr/>
        </p:nvSpPr>
        <p:spPr>
          <a:xfrm>
            <a:off x="8229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8BDF8"/>
                </a:solidFill>
                <a:latin typeface="Helvetica"/>
              </a:defRPr>
            </a:pPr>
            <a:r>
              <a:t>Encrypted Payloads</a:t>
            </a:r>
          </a:p>
          <a:p>
            <a:pPr>
              <a:spcAft>
                <a:spcPts val="800"/>
              </a:spcAft>
              <a:defRPr sz="1600">
                <a:solidFill>
                  <a:srgbClr val="F8FAFC"/>
                </a:solidFill>
                <a:latin typeface="Arial"/>
              </a:defRPr>
            </a:pPr>
            <a:r>
              <a:t>TLS/HTTPS encryption blinds deep packet inspection tools.</a:t>
            </a:r>
          </a:p>
        </p:txBody>
      </p:sp>
      <p:sp>
        <p:nvSpPr>
          <p:cNvPr id="5" name="Rounded Rectangle 4"/>
          <p:cNvSpPr/>
          <p:nvPr/>
        </p:nvSpPr>
        <p:spPr>
          <a:xfrm>
            <a:off x="44805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BBF24"/>
                </a:solidFill>
                <a:latin typeface="Helvetica"/>
              </a:defRPr>
            </a:pPr>
            <a:r>
              <a:t>Spoofed Headers</a:t>
            </a:r>
          </a:p>
          <a:p>
            <a:pPr>
              <a:spcAft>
                <a:spcPts val="800"/>
              </a:spcAft>
              <a:defRPr sz="1600">
                <a:solidFill>
                  <a:srgbClr val="F8FAFC"/>
                </a:solidFill>
                <a:latin typeface="Arial"/>
              </a:defRPr>
            </a:pPr>
            <a:r>
              <a:t>MAC and IP addresses are trivially faked in software.</a:t>
            </a:r>
          </a:p>
        </p:txBody>
      </p:sp>
      <p:sp>
        <p:nvSpPr>
          <p:cNvPr id="6" name="Rounded Rectangle 5"/>
          <p:cNvSpPr/>
          <p:nvPr/>
        </p:nvSpPr>
        <p:spPr>
          <a:xfrm>
            <a:off x="81381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43F5E"/>
                </a:solidFill>
                <a:latin typeface="Helvetica"/>
              </a:defRPr>
            </a:pPr>
            <a:r>
              <a:t>Zero Visibility</a:t>
            </a:r>
          </a:p>
          <a:p>
            <a:pPr>
              <a:spcAft>
                <a:spcPts val="800"/>
              </a:spcAft>
              <a:defRPr sz="1600">
                <a:solidFill>
                  <a:srgbClr val="F8FAFC"/>
                </a:solidFill>
                <a:latin typeface="Arial"/>
              </a:defRPr>
            </a:pPr>
            <a:r>
              <a:t>Gateways cannot verify what physical hardware is connected.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TECHNICAL FOUNDATION</a:t>
            </a:r>
          </a:p>
          <a:p>
            <a:pPr>
              <a:defRPr sz="3200" b="1">
                <a:solidFill>
                  <a:srgbClr val="F8FAFC"/>
                </a:solidFill>
                <a:latin typeface="Helvetica"/>
              </a:defRPr>
            </a:pPr>
            <a:r>
              <a:t>Timing Leaks Hardware Identity</a:t>
            </a:r>
          </a:p>
          <a:p>
            <a:pPr>
              <a:spcBef>
                <a:spcPts val="300"/>
              </a:spcBef>
              <a:defRPr sz="1500">
                <a:solidFill>
                  <a:srgbClr val="94A3B8"/>
                </a:solidFill>
                <a:latin typeface="Arial"/>
              </a:defRPr>
            </a:pPr>
            <a:r>
              <a:t>How encrypted streams reveal their physical source</a:t>
            </a:r>
          </a:p>
        </p:txBody>
      </p:sp>
      <p:sp>
        <p:nvSpPr>
          <p:cNvPr id="4" name="Rounded Rectangle 3"/>
          <p:cNvSpPr/>
          <p:nvPr/>
        </p:nvSpPr>
        <p:spPr>
          <a:xfrm>
            <a:off x="822960" y="2194560"/>
            <a:ext cx="1051560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8BDF8"/>
                </a:solidFill>
                <a:latin typeface="Helvetica"/>
              </a:defRPr>
            </a:pPr>
            <a:r>
              <a:t>Hardware Rhythms</a:t>
            </a:r>
          </a:p>
          <a:p>
            <a:pPr>
              <a:spcAft>
                <a:spcPts val="800"/>
              </a:spcAft>
              <a:defRPr sz="1600">
                <a:solidFill>
                  <a:srgbClr val="F8FAFC"/>
                </a:solidFill>
                <a:latin typeface="Arial"/>
              </a:defRPr>
            </a:pPr>
            <a:r>
              <a:t>Microcontrollers, polling loops, and firmware emit distinct packet delays.</a:t>
            </a:r>
          </a:p>
        </p:txBody>
      </p:sp>
      <p:sp>
        <p:nvSpPr>
          <p:cNvPr id="5" name="Rounded Rectangle 4"/>
          <p:cNvSpPr/>
          <p:nvPr/>
        </p:nvSpPr>
        <p:spPr>
          <a:xfrm>
            <a:off x="822960" y="4297680"/>
            <a:ext cx="1051560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4D399"/>
                </a:solidFill>
                <a:latin typeface="Helvetica"/>
              </a:defRPr>
            </a:pPr>
            <a:r>
              <a:t>The Footsteps Analogy</a:t>
            </a:r>
          </a:p>
          <a:p>
            <a:pPr>
              <a:spcAft>
                <a:spcPts val="800"/>
              </a:spcAft>
              <a:defRPr sz="1600">
                <a:solidFill>
                  <a:srgbClr val="F8FAFC"/>
                </a:solidFill>
                <a:latin typeface="Arial"/>
              </a:defRPr>
            </a:pPr>
            <a:r>
              <a:t>Identifying devices by packet timing is like recognizing footsteps in the dark.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BEHAVIORAL PROFILES</a:t>
            </a:r>
          </a:p>
          <a:p>
            <a:pPr>
              <a:defRPr sz="3200" b="1">
                <a:solidFill>
                  <a:srgbClr val="F8FAFC"/>
                </a:solidFill>
                <a:latin typeface="Helvetica"/>
              </a:defRPr>
            </a:pPr>
            <a:r>
              <a:t>How Devices Differ in Time</a:t>
            </a:r>
          </a:p>
          <a:p>
            <a:pPr>
              <a:spcBef>
                <a:spcPts val="300"/>
              </a:spcBef>
              <a:defRPr sz="1500">
                <a:solidFill>
                  <a:srgbClr val="94A3B8"/>
                </a:solidFill>
                <a:latin typeface="Arial"/>
              </a:defRPr>
            </a:pPr>
            <a:r>
              <a:t>Direct comparison of real packet arrival timelines</a:t>
            </a:r>
          </a:p>
        </p:txBody>
      </p:sp>
      <p:pic>
        <p:nvPicPr>
          <p:cNvPr id="4" name="Picture 3" descr="timing_intuition.png"/>
          <p:cNvPicPr>
            <a:picLocks noChangeAspect="1"/>
          </p:cNvPicPr>
          <p:nvPr/>
        </p:nvPicPr>
        <p:blipFill>
          <a:blip r:embed="rId2"/>
          <a:stretch>
            <a:fillRect/>
          </a:stretch>
        </p:blipFill>
        <p:spPr>
          <a:xfrm>
            <a:off x="822960" y="2011680"/>
            <a:ext cx="10515600" cy="4649002"/>
          </a:xfrm>
          <a:prstGeom prst="rect">
            <a:avLst/>
          </a:prstGeom>
        </p:spPr>
      </p:pic>
      <p:sp>
        <p:nvSpPr>
          <p:cNvPr id="5" name="Rounded Rectangle 4"/>
          <p:cNvSpPr/>
          <p:nvPr/>
        </p:nvSpPr>
        <p:spPr>
          <a:xfrm>
            <a:off x="822960" y="5989320"/>
            <a:ext cx="10515600" cy="5943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800"/>
              </a:spcAft>
              <a:defRPr sz="1600">
                <a:solidFill>
                  <a:srgbClr val="F8FAFC"/>
                </a:solidFill>
                <a:latin typeface="Arial"/>
              </a:defRPr>
            </a:pPr>
            <a:r>
              <a:t>Hardware tasks emit distinct packet rhythms across idle, streaming, and query states.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SYSTEM ARCHITECTURE</a:t>
            </a:r>
          </a:p>
          <a:p>
            <a:pPr>
              <a:defRPr sz="3200" b="1">
                <a:solidFill>
                  <a:srgbClr val="F8FAFC"/>
                </a:solidFill>
                <a:latin typeface="Helvetica"/>
              </a:defRPr>
            </a:pPr>
            <a:r>
              <a:t>End-to-End Traffic Pipeline</a:t>
            </a:r>
          </a:p>
          <a:p>
            <a:pPr>
              <a:spcBef>
                <a:spcPts val="300"/>
              </a:spcBef>
              <a:defRPr sz="1500">
                <a:solidFill>
                  <a:srgbClr val="94A3B8"/>
                </a:solidFill>
                <a:latin typeface="Arial"/>
              </a:defRPr>
            </a:pPr>
            <a:r>
              <a:t>A lightweight, passive 5-stage inference flow</a:t>
            </a:r>
          </a:p>
        </p:txBody>
      </p:sp>
      <p:pic>
        <p:nvPicPr>
          <p:cNvPr id="4" name="Picture 3" descr="pipeline_diagram.png"/>
          <p:cNvPicPr>
            <a:picLocks noChangeAspect="1"/>
          </p:cNvPicPr>
          <p:nvPr/>
        </p:nvPicPr>
        <p:blipFill>
          <a:blip r:embed="rId2"/>
          <a:stretch>
            <a:fillRect/>
          </a:stretch>
        </p:blipFill>
        <p:spPr>
          <a:xfrm>
            <a:off x="822960" y="2011680"/>
            <a:ext cx="10515600" cy="3204754"/>
          </a:xfrm>
          <a:prstGeom prst="rect">
            <a:avLst/>
          </a:prstGeom>
        </p:spPr>
      </p:pic>
      <p:sp>
        <p:nvSpPr>
          <p:cNvPr id="5" name="Rounded Rectangle 4"/>
          <p:cNvSpPr/>
          <p:nvPr/>
        </p:nvSpPr>
        <p:spPr>
          <a:xfrm>
            <a:off x="822960" y="5029200"/>
            <a:ext cx="10515600" cy="1188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8BDF8"/>
                </a:solidFill>
                <a:latin typeface="Helvetica"/>
              </a:defRPr>
            </a:pPr>
            <a:r>
              <a:t>Passive Gateway Processing</a:t>
            </a:r>
          </a:p>
          <a:p>
            <a:pPr>
              <a:spcAft>
                <a:spcPts val="800"/>
              </a:spcAft>
              <a:defRPr sz="1600">
                <a:solidFill>
                  <a:srgbClr val="F8FAFC"/>
                </a:solidFill>
                <a:latin typeface="Arial"/>
              </a:defRPr>
            </a:pPr>
            <a:r>
              <a:t>Fast user-space pipeline extracting summary statistics with zero decryption overhead.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DATASET SPECIFICATION</a:t>
            </a:r>
          </a:p>
          <a:p>
            <a:pPr>
              <a:defRPr sz="3200" b="1">
                <a:solidFill>
                  <a:srgbClr val="F8FAFC"/>
                </a:solidFill>
                <a:latin typeface="Helvetica"/>
              </a:defRPr>
            </a:pPr>
            <a:r>
              <a:t>UNSW Real-World IoT Dataset</a:t>
            </a:r>
          </a:p>
          <a:p>
            <a:pPr>
              <a:spcBef>
                <a:spcPts val="300"/>
              </a:spcBef>
              <a:defRPr sz="1500">
                <a:solidFill>
                  <a:srgbClr val="94A3B8"/>
                </a:solidFill>
                <a:latin typeface="Arial"/>
              </a:defRPr>
            </a:pPr>
            <a:r>
              <a:t>Empirical benchmark traffic captured over 3 continuous days</a:t>
            </a:r>
          </a:p>
        </p:txBody>
      </p:sp>
      <p:sp>
        <p:nvSpPr>
          <p:cNvPr id="4" name="Rounded Rectangle 3"/>
          <p:cNvSpPr/>
          <p:nvPr/>
        </p:nvSpPr>
        <p:spPr>
          <a:xfrm>
            <a:off x="8229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8BDF8"/>
                </a:solidFill>
                <a:latin typeface="Helvetica"/>
              </a:defRPr>
            </a:pPr>
            <a:r>
              <a:t>973K Packets</a:t>
            </a:r>
          </a:p>
          <a:p>
            <a:pPr>
              <a:spcAft>
                <a:spcPts val="800"/>
              </a:spcAft>
              <a:defRPr sz="1600">
                <a:solidFill>
                  <a:srgbClr val="F8FAFC"/>
                </a:solidFill>
                <a:latin typeface="Arial"/>
              </a:defRPr>
            </a:pPr>
            <a:r>
              <a:t>Captured across 3 continuous days in a live smart home.</a:t>
            </a:r>
          </a:p>
        </p:txBody>
      </p:sp>
      <p:sp>
        <p:nvSpPr>
          <p:cNvPr id="5" name="Rounded Rectangle 4"/>
          <p:cNvSpPr/>
          <p:nvPr/>
        </p:nvSpPr>
        <p:spPr>
          <a:xfrm>
            <a:off x="44805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4D399"/>
                </a:solidFill>
                <a:latin typeface="Helvetica"/>
              </a:defRPr>
            </a:pPr>
            <a:r>
              <a:t>7,606 Windows</a:t>
            </a:r>
          </a:p>
          <a:p>
            <a:pPr>
              <a:spcAft>
                <a:spcPts val="800"/>
              </a:spcAft>
              <a:defRPr sz="1600">
                <a:solidFill>
                  <a:srgbClr val="F8FAFC"/>
                </a:solidFill>
                <a:latin typeface="Arial"/>
              </a:defRPr>
            </a:pPr>
            <a:r>
              <a:t>Segmented into non-overlapping 128-packet temporal blocks.</a:t>
            </a:r>
          </a:p>
        </p:txBody>
      </p:sp>
      <p:sp>
        <p:nvSpPr>
          <p:cNvPr id="6" name="Rounded Rectangle 5"/>
          <p:cNvSpPr/>
          <p:nvPr/>
        </p:nvSpPr>
        <p:spPr>
          <a:xfrm>
            <a:off x="81381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BBF24"/>
                </a:solidFill>
                <a:latin typeface="Helvetica"/>
              </a:defRPr>
            </a:pPr>
            <a:r>
              <a:t>5 Devices</a:t>
            </a:r>
          </a:p>
          <a:p>
            <a:pPr>
              <a:spcAft>
                <a:spcPts val="800"/>
              </a:spcAft>
              <a:defRPr sz="1600">
                <a:solidFill>
                  <a:srgbClr val="F8FAFC"/>
                </a:solidFill>
                <a:latin typeface="Arial"/>
              </a:defRPr>
            </a:pPr>
            <a:r>
              <a:t>Amazon Echo, Belkin WeMo, Philips Hue, Samsung Camera, TP-Link Plug.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FEATURE ENGINEERING</a:t>
            </a:r>
          </a:p>
          <a:p>
            <a:pPr>
              <a:defRPr sz="3200" b="1">
                <a:solidFill>
                  <a:srgbClr val="F8FAFC"/>
                </a:solidFill>
                <a:latin typeface="Helvetica"/>
              </a:defRPr>
            </a:pPr>
            <a:r>
              <a:t>13 Statistical Timing Moments</a:t>
            </a:r>
          </a:p>
          <a:p>
            <a:pPr>
              <a:spcBef>
                <a:spcPts val="300"/>
              </a:spcBef>
              <a:defRPr sz="1500">
                <a:solidFill>
                  <a:srgbClr val="94A3B8"/>
                </a:solidFill>
                <a:latin typeface="Arial"/>
              </a:defRPr>
            </a:pPr>
            <a:r>
              <a:t>Compact mathematical summaries of packet inter-arrival times (IAT)</a:t>
            </a:r>
          </a:p>
        </p:txBody>
      </p:sp>
      <p:sp>
        <p:nvSpPr>
          <p:cNvPr id="4" name="Rounded Rectangle 3"/>
          <p:cNvSpPr/>
          <p:nvPr/>
        </p:nvSpPr>
        <p:spPr>
          <a:xfrm>
            <a:off x="8229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8BDF8"/>
                </a:solidFill>
                <a:latin typeface="Helvetica"/>
              </a:defRPr>
            </a:pPr>
            <a:r>
              <a:t>Spread &amp; Center</a:t>
            </a:r>
          </a:p>
          <a:p>
            <a:pPr>
              <a:spcAft>
                <a:spcPts val="800"/>
              </a:spcAft>
              <a:defRPr sz="1600">
                <a:solidFill>
                  <a:srgbClr val="F8FAFC"/>
                </a:solidFill>
                <a:latin typeface="Arial"/>
              </a:defRPr>
            </a:pPr>
            <a:r>
              <a:t>Mean, Median, Min, Max, and Standard Deviation.</a:t>
            </a:r>
          </a:p>
        </p:txBody>
      </p:sp>
      <p:sp>
        <p:nvSpPr>
          <p:cNvPr id="5" name="Rounded Rectangle 4"/>
          <p:cNvSpPr/>
          <p:nvPr/>
        </p:nvSpPr>
        <p:spPr>
          <a:xfrm>
            <a:off x="44805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4D399"/>
                </a:solidFill>
                <a:latin typeface="Helvetica"/>
              </a:defRPr>
            </a:pPr>
            <a:r>
              <a:t>Clock Quantiles</a:t>
            </a:r>
          </a:p>
          <a:p>
            <a:pPr>
              <a:spcAft>
                <a:spcPts val="800"/>
              </a:spcAft>
              <a:defRPr sz="1600">
                <a:solidFill>
                  <a:srgbClr val="F8FAFC"/>
                </a:solidFill>
                <a:latin typeface="Arial"/>
              </a:defRPr>
            </a:pPr>
            <a:r>
              <a:t>25th, 75th, 95th, and 99th percentiles capture hardware timers.</a:t>
            </a:r>
          </a:p>
        </p:txBody>
      </p:sp>
      <p:sp>
        <p:nvSpPr>
          <p:cNvPr id="6" name="Rounded Rectangle 5"/>
          <p:cNvSpPr/>
          <p:nvPr/>
        </p:nvSpPr>
        <p:spPr>
          <a:xfrm>
            <a:off x="81381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BBF24"/>
                </a:solidFill>
                <a:latin typeface="Helvetica"/>
              </a:defRPr>
            </a:pPr>
            <a:r>
              <a:t>Shape &amp; Energy</a:t>
            </a:r>
          </a:p>
          <a:p>
            <a:pPr>
              <a:spcAft>
                <a:spcPts val="800"/>
              </a:spcAft>
              <a:defRPr sz="1600">
                <a:solidFill>
                  <a:srgbClr val="F8FAFC"/>
                </a:solidFill>
                <a:latin typeface="Arial"/>
              </a:defRPr>
            </a:pPr>
            <a:r>
              <a:t>Skewness, Kurtosis, Signal Energy, and Shannon Entropy.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METHODOLOGY &amp; EVALUATION</a:t>
            </a:r>
          </a:p>
          <a:p>
            <a:pPr>
              <a:defRPr sz="3200" b="1">
                <a:solidFill>
                  <a:srgbClr val="F8FAFC"/>
                </a:solidFill>
                <a:latin typeface="Helvetica"/>
              </a:defRPr>
            </a:pPr>
            <a:r>
              <a:t>Model Architecture &amp; Rigor</a:t>
            </a:r>
          </a:p>
          <a:p>
            <a:pPr>
              <a:spcBef>
                <a:spcPts val="300"/>
              </a:spcBef>
              <a:defRPr sz="1500">
                <a:solidFill>
                  <a:srgbClr val="94A3B8"/>
                </a:solidFill>
                <a:latin typeface="Arial"/>
              </a:defRPr>
            </a:pPr>
            <a:r>
              <a:t>Preventing temporal data leakage through block-level splitting</a:t>
            </a:r>
          </a:p>
        </p:txBody>
      </p:sp>
      <p:sp>
        <p:nvSpPr>
          <p:cNvPr id="4" name="Rounded Rectangle 3"/>
          <p:cNvSpPr/>
          <p:nvPr/>
        </p:nvSpPr>
        <p:spPr>
          <a:xfrm>
            <a:off x="8229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8BDF8"/>
                </a:solidFill>
                <a:latin typeface="Helvetica"/>
              </a:defRPr>
            </a:pPr>
            <a:r>
              <a:t>Random Forest</a:t>
            </a:r>
          </a:p>
          <a:p>
            <a:pPr>
              <a:spcAft>
                <a:spcPts val="800"/>
              </a:spcAft>
              <a:defRPr sz="1600">
                <a:solidFill>
                  <a:srgbClr val="F8FAFC"/>
                </a:solidFill>
                <a:latin typeface="Arial"/>
              </a:defRPr>
            </a:pPr>
            <a:r>
              <a:t>100 trees provide sub-millisecond, robust multi-class inference.</a:t>
            </a:r>
          </a:p>
        </p:txBody>
      </p:sp>
      <p:sp>
        <p:nvSpPr>
          <p:cNvPr id="5" name="Rounded Rectangle 4"/>
          <p:cNvSpPr/>
          <p:nvPr/>
        </p:nvSpPr>
        <p:spPr>
          <a:xfrm>
            <a:off x="44805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4D399"/>
                </a:solidFill>
                <a:latin typeface="Helvetica"/>
              </a:defRPr>
            </a:pPr>
            <a:r>
              <a:t>1-Hour Blocks</a:t>
            </a:r>
          </a:p>
          <a:p>
            <a:pPr>
              <a:spcAft>
                <a:spcPts val="800"/>
              </a:spcAft>
              <a:defRPr sz="1600">
                <a:solidFill>
                  <a:srgbClr val="F8FAFC"/>
                </a:solidFill>
                <a:latin typeface="Arial"/>
              </a:defRPr>
            </a:pPr>
            <a:r>
              <a:t>70% Train, 15% Validation, and 15% Held-Out Test.</a:t>
            </a:r>
          </a:p>
        </p:txBody>
      </p:sp>
      <p:sp>
        <p:nvSpPr>
          <p:cNvPr id="6" name="Rounded Rectangle 5"/>
          <p:cNvSpPr/>
          <p:nvPr/>
        </p:nvSpPr>
        <p:spPr>
          <a:xfrm>
            <a:off x="81381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BBF24"/>
                </a:solidFill>
                <a:latin typeface="Helvetica"/>
              </a:defRPr>
            </a:pPr>
            <a:r>
              <a:t>Method Rigor</a:t>
            </a:r>
          </a:p>
          <a:p>
            <a:pPr>
              <a:spcAft>
                <a:spcPts val="800"/>
              </a:spcAft>
              <a:defRPr sz="1600">
                <a:solidFill>
                  <a:srgbClr val="F8FAFC"/>
                </a:solidFill>
                <a:latin typeface="Arial"/>
              </a:defRPr>
            </a:pPr>
            <a:r>
              <a:t>Zero temporal leakage; test split evaluated exactly once.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EXPERIMENTAL RESULTS</a:t>
            </a:r>
          </a:p>
          <a:p>
            <a:pPr>
              <a:defRPr sz="3200" b="1">
                <a:solidFill>
                  <a:srgbClr val="F8FAFC"/>
                </a:solidFill>
                <a:latin typeface="Helvetica"/>
              </a:defRPr>
            </a:pPr>
            <a:r>
              <a:t>99.34% Classification Accuracy</a:t>
            </a:r>
          </a:p>
          <a:p>
            <a:pPr>
              <a:spcBef>
                <a:spcPts val="300"/>
              </a:spcBef>
              <a:defRPr sz="1500">
                <a:solidFill>
                  <a:srgbClr val="94A3B8"/>
                </a:solidFill>
                <a:latin typeface="Arial"/>
              </a:defRPr>
            </a:pPr>
            <a:r>
              <a:t>Empirical performance across 1,067 held-out test windows</a:t>
            </a:r>
          </a:p>
        </p:txBody>
      </p:sp>
      <p:pic>
        <p:nvPicPr>
          <p:cNvPr id="4" name="Picture 3" descr="results_chart.png"/>
          <p:cNvPicPr>
            <a:picLocks noChangeAspect="1"/>
          </p:cNvPicPr>
          <p:nvPr/>
        </p:nvPicPr>
        <p:blipFill>
          <a:blip r:embed="rId2"/>
          <a:stretch>
            <a:fillRect/>
          </a:stretch>
        </p:blipFill>
        <p:spPr>
          <a:xfrm>
            <a:off x="822960" y="2011680"/>
            <a:ext cx="10515600" cy="4406537"/>
          </a:xfrm>
          <a:prstGeom prst="rect">
            <a:avLst/>
          </a:prstGeom>
        </p:spPr>
      </p:pic>
      <p:sp>
        <p:nvSpPr>
          <p:cNvPr id="5" name="Rounded Rectangle 4"/>
          <p:cNvSpPr/>
          <p:nvPr/>
        </p:nvSpPr>
        <p:spPr>
          <a:xfrm>
            <a:off x="822960" y="5989320"/>
            <a:ext cx="10515600" cy="594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800"/>
              </a:spcAft>
              <a:defRPr sz="1600">
                <a:solidFill>
                  <a:srgbClr val="F8FAFC"/>
                </a:solidFill>
                <a:latin typeface="Arial"/>
              </a:defRPr>
            </a:pPr>
            <a:r>
              <a:t>99.34% Test Accuracy  •  99.38% Macro F1  •  P75 and Median drive 30.3% of splits.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SYSTEM ANALYSIS</a:t>
            </a:r>
          </a:p>
          <a:p>
            <a:pPr>
              <a:defRPr sz="3200" b="1">
                <a:solidFill>
                  <a:srgbClr val="F8FAFC"/>
                </a:solidFill>
                <a:latin typeface="Helvetica"/>
              </a:defRPr>
            </a:pPr>
            <a:r>
              <a:t>Capabilities &amp; Constraints</a:t>
            </a:r>
          </a:p>
          <a:p>
            <a:pPr>
              <a:spcBef>
                <a:spcPts val="300"/>
              </a:spcBef>
              <a:defRPr sz="1500">
                <a:solidFill>
                  <a:srgbClr val="94A3B8"/>
                </a:solidFill>
                <a:latin typeface="Arial"/>
              </a:defRPr>
            </a:pPr>
            <a:r>
              <a:t>Real-world trade-offs in passive traffic fingerprinting</a:t>
            </a:r>
          </a:p>
        </p:txBody>
      </p:sp>
      <p:sp>
        <p:nvSpPr>
          <p:cNvPr id="4" name="Rounded Rectangle 3"/>
          <p:cNvSpPr/>
          <p:nvPr/>
        </p:nvSpPr>
        <p:spPr>
          <a:xfrm>
            <a:off x="822960" y="2103120"/>
            <a:ext cx="502920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4D399"/>
                </a:solidFill>
                <a:latin typeface="Helvetica"/>
              </a:defRPr>
            </a:pPr>
            <a:r>
              <a:t>System Strengths</a:t>
            </a:r>
          </a:p>
          <a:p>
            <a:pPr>
              <a:spcAft>
                <a:spcPts val="800"/>
              </a:spcAft>
              <a:defRPr sz="1600">
                <a:solidFill>
                  <a:srgbClr val="F8FAFC"/>
                </a:solidFill>
                <a:latin typeface="Arial"/>
              </a:defRPr>
            </a:pPr>
            <a:r>
              <a:t>• Zero payload decryption preserves user privacy.</a:t>
            </a:r>
          </a:p>
          <a:p>
            <a:pPr>
              <a:spcAft>
                <a:spcPts val="800"/>
              </a:spcAft>
              <a:defRPr sz="1600">
                <a:solidFill>
                  <a:srgbClr val="F8FAFC"/>
                </a:solidFill>
                <a:latin typeface="Arial"/>
              </a:defRPr>
            </a:pPr>
            <a:r>
              <a:t>• Sub-millisecond router inference resists spoofing.</a:t>
            </a:r>
          </a:p>
        </p:txBody>
      </p:sp>
      <p:sp>
        <p:nvSpPr>
          <p:cNvPr id="5" name="Rounded Rectangle 4"/>
          <p:cNvSpPr/>
          <p:nvPr/>
        </p:nvSpPr>
        <p:spPr>
          <a:xfrm>
            <a:off x="6309360" y="2103120"/>
            <a:ext cx="502920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BBF24"/>
                </a:solidFill>
                <a:latin typeface="Helvetica"/>
              </a:defRPr>
            </a:pPr>
            <a:r>
              <a:t>Real-World Limitations</a:t>
            </a:r>
          </a:p>
          <a:p>
            <a:pPr>
              <a:spcAft>
                <a:spcPts val="800"/>
              </a:spcAft>
              <a:defRPr sz="1600">
                <a:solidFill>
                  <a:srgbClr val="F8FAFC"/>
                </a:solidFill>
                <a:latin typeface="Arial"/>
              </a:defRPr>
            </a:pPr>
            <a:r>
              <a:t>• Severe Wi-Fi jitter distorts packet delays.</a:t>
            </a:r>
          </a:p>
          <a:p>
            <a:pPr>
              <a:spcAft>
                <a:spcPts val="800"/>
              </a:spcAft>
              <a:defRPr sz="1600">
                <a:solidFill>
                  <a:srgbClr val="F8FAFC"/>
                </a:solidFill>
                <a:latin typeface="Arial"/>
              </a:defRPr>
            </a:pPr>
            <a:r>
              <a:t>• Identical hardware models share timing signatures.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PROJECT SCOPE</a:t>
            </a:r>
          </a:p>
          <a:p>
            <a:pPr>
              <a:defRPr sz="3200" b="1">
                <a:solidFill>
                  <a:srgbClr val="F8FAFC"/>
                </a:solidFill>
                <a:latin typeface="Helvetica"/>
              </a:defRPr>
            </a:pPr>
            <a:r>
              <a:t>Project Status &amp; Roadmap</a:t>
            </a:r>
          </a:p>
          <a:p>
            <a:pPr>
              <a:spcBef>
                <a:spcPts val="300"/>
              </a:spcBef>
              <a:defRPr sz="1500">
                <a:solidFill>
                  <a:srgbClr val="94A3B8"/>
                </a:solidFill>
                <a:latin typeface="Arial"/>
              </a:defRPr>
            </a:pPr>
            <a:r>
              <a:t>Clear distinction between implemented work and planned future work</a:t>
            </a:r>
          </a:p>
        </p:txBody>
      </p:sp>
      <p:sp>
        <p:nvSpPr>
          <p:cNvPr id="4" name="Rounded Rectangle 3"/>
          <p:cNvSpPr/>
          <p:nvPr/>
        </p:nvSpPr>
        <p:spPr>
          <a:xfrm>
            <a:off x="822960" y="2103120"/>
            <a:ext cx="502920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4D399"/>
                </a:solidFill>
                <a:latin typeface="Helvetica"/>
              </a:defRPr>
            </a:pPr>
            <a:r>
              <a:t>[DONE] Implemented &amp; Verified</a:t>
            </a:r>
          </a:p>
          <a:p>
            <a:pPr>
              <a:spcAft>
                <a:spcPts val="800"/>
              </a:spcAft>
              <a:defRPr sz="1600">
                <a:solidFill>
                  <a:srgbClr val="F8FAFC"/>
                </a:solidFill>
                <a:latin typeface="Arial"/>
              </a:defRPr>
            </a:pPr>
            <a:r>
              <a:t>• 13 IAT statistical feature pipeline.</a:t>
            </a:r>
          </a:p>
          <a:p>
            <a:pPr>
              <a:spcAft>
                <a:spcPts val="800"/>
              </a:spcAft>
              <a:defRPr sz="1600">
                <a:solidFill>
                  <a:srgbClr val="F8FAFC"/>
                </a:solidFill>
                <a:latin typeface="Arial"/>
              </a:defRPr>
            </a:pPr>
            <a:r>
              <a:t>• 5-device Random Forest classifier (99.34% accuracy).</a:t>
            </a:r>
          </a:p>
          <a:p>
            <a:pPr>
              <a:spcAft>
                <a:spcPts val="800"/>
              </a:spcAft>
              <a:defRPr sz="1600">
                <a:solidFill>
                  <a:srgbClr val="F8FAFC"/>
                </a:solidFill>
                <a:latin typeface="Arial"/>
              </a:defRPr>
            </a:pPr>
            <a:r>
              <a:t>• Interactive Streamlit demonstration dashboard.</a:t>
            </a:r>
          </a:p>
        </p:txBody>
      </p:sp>
      <p:sp>
        <p:nvSpPr>
          <p:cNvPr id="5" name="Rounded Rectangle 4"/>
          <p:cNvSpPr/>
          <p:nvPr/>
        </p:nvSpPr>
        <p:spPr>
          <a:xfrm>
            <a:off x="6309360" y="2103120"/>
            <a:ext cx="502920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BBF24"/>
                </a:solidFill>
                <a:latin typeface="Helvetica"/>
              </a:defRPr>
            </a:pPr>
            <a:r>
              <a:t>[PLANNED] Future Milestones</a:t>
            </a:r>
          </a:p>
          <a:p>
            <a:pPr>
              <a:spcAft>
                <a:spcPts val="800"/>
              </a:spcAft>
              <a:defRPr sz="1600">
                <a:solidFill>
                  <a:srgbClr val="F8FAFC"/>
                </a:solidFill>
                <a:latin typeface="Arial"/>
              </a:defRPr>
            </a:pPr>
            <a:r>
              <a:t>• Open-set unknown rejection via anomaly thresholds.</a:t>
            </a:r>
          </a:p>
          <a:p>
            <a:pPr>
              <a:spcAft>
                <a:spcPts val="800"/>
              </a:spcAft>
              <a:defRPr sz="1600">
                <a:solidFill>
                  <a:srgbClr val="F8FAFC"/>
                </a:solidFill>
                <a:latin typeface="Arial"/>
              </a:defRPr>
            </a:pPr>
            <a:r>
              <a:t>• Automated router firewall isolation (iptables).</a:t>
            </a:r>
          </a:p>
          <a:p>
            <a:pPr>
              <a:spcAft>
                <a:spcPts val="800"/>
              </a:spcAft>
              <a:defRPr sz="1600">
                <a:solidFill>
                  <a:srgbClr val="F8FAFC"/>
                </a:solidFill>
                <a:latin typeface="Arial"/>
              </a:defRPr>
            </a:pPr>
            <a:r>
              <a:t>• Dynamic quarantine VLAN for unverified hardware.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FUTURE ARCHITECTURE</a:t>
            </a:r>
          </a:p>
          <a:p>
            <a:pPr>
              <a:defRPr sz="3200" b="1">
                <a:solidFill>
                  <a:srgbClr val="F8FAFC"/>
                </a:solidFill>
                <a:latin typeface="Helvetica"/>
              </a:defRPr>
            </a:pPr>
            <a:r>
              <a:t>Planned: Gateway Unknown Isolation</a:t>
            </a:r>
          </a:p>
          <a:p>
            <a:pPr>
              <a:spcBef>
                <a:spcPts val="300"/>
              </a:spcBef>
              <a:defRPr sz="1500">
                <a:solidFill>
                  <a:srgbClr val="94A3B8"/>
                </a:solidFill>
                <a:latin typeface="Arial"/>
              </a:defRPr>
            </a:pPr>
            <a:r>
              <a:t>Automated anomaly thresholding and router-level quarantine</a:t>
            </a:r>
          </a:p>
        </p:txBody>
      </p:sp>
      <p:pic>
        <p:nvPicPr>
          <p:cNvPr id="4" name="Picture 3" descr="future_architecture.png"/>
          <p:cNvPicPr>
            <a:picLocks noChangeAspect="1"/>
          </p:cNvPicPr>
          <p:nvPr/>
        </p:nvPicPr>
        <p:blipFill>
          <a:blip r:embed="rId2"/>
          <a:stretch>
            <a:fillRect/>
          </a:stretch>
        </p:blipFill>
        <p:spPr>
          <a:xfrm>
            <a:off x="822960" y="2011680"/>
            <a:ext cx="10515600" cy="3405051"/>
          </a:xfrm>
          <a:prstGeom prst="rect">
            <a:avLst/>
          </a:prstGeom>
        </p:spPr>
      </p:pic>
      <p:sp>
        <p:nvSpPr>
          <p:cNvPr id="5" name="Rounded Rectangle 4"/>
          <p:cNvSpPr/>
          <p:nvPr/>
        </p:nvSpPr>
        <p:spPr>
          <a:xfrm>
            <a:off x="822960" y="5029200"/>
            <a:ext cx="10515600" cy="1188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8BDF8"/>
                </a:solidFill>
                <a:latin typeface="Helvetica"/>
              </a:defRPr>
            </a:pPr>
            <a:r>
              <a:t>Decision Thresholding</a:t>
            </a:r>
          </a:p>
          <a:p>
            <a:pPr>
              <a:spcAft>
                <a:spcPts val="800"/>
              </a:spcAft>
              <a:defRPr sz="1600">
                <a:solidFill>
                  <a:srgbClr val="F8FAFC"/>
                </a:solidFill>
                <a:latin typeface="Arial"/>
              </a:defRPr>
            </a:pPr>
            <a:r>
              <a:t>Confidence &gt;= 84% allows verified LAN access; lower confidence routes to quarantine.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SECURITY &amp; ETHICS</a:t>
            </a:r>
          </a:p>
          <a:p>
            <a:pPr>
              <a:defRPr sz="3200" b="1">
                <a:solidFill>
                  <a:srgbClr val="F8FAFC"/>
                </a:solidFill>
                <a:latin typeface="Helvetica"/>
              </a:defRPr>
            </a:pPr>
            <a:r>
              <a:t>Privacy &amp; Ethical Considerations</a:t>
            </a:r>
          </a:p>
          <a:p>
            <a:pPr>
              <a:spcBef>
                <a:spcPts val="300"/>
              </a:spcBef>
              <a:defRPr sz="1500">
                <a:solidFill>
                  <a:srgbClr val="94A3B8"/>
                </a:solidFill>
                <a:latin typeface="Arial"/>
              </a:defRPr>
            </a:pPr>
            <a:r>
              <a:t>Balancing network defense against behavioral side-channels</a:t>
            </a:r>
          </a:p>
        </p:txBody>
      </p:sp>
      <p:sp>
        <p:nvSpPr>
          <p:cNvPr id="4" name="Rounded Rectangle 3"/>
          <p:cNvSpPr/>
          <p:nvPr/>
        </p:nvSpPr>
        <p:spPr>
          <a:xfrm>
            <a:off x="822960" y="2103120"/>
            <a:ext cx="502920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4D399"/>
                </a:solidFill>
                <a:latin typeface="Helvetica"/>
              </a:defRPr>
            </a:pPr>
            <a:r>
              <a:t>Defensive Privacy Benefit</a:t>
            </a:r>
          </a:p>
          <a:p>
            <a:pPr>
              <a:spcAft>
                <a:spcPts val="800"/>
              </a:spcAft>
              <a:defRPr sz="1600">
                <a:solidFill>
                  <a:srgbClr val="F8FAFC"/>
                </a:solidFill>
                <a:latin typeface="Arial"/>
              </a:defRPr>
            </a:pPr>
            <a:r>
              <a:t>• Secures local networks without decrypting private user data.</a:t>
            </a:r>
          </a:p>
          <a:p>
            <a:pPr>
              <a:spcAft>
                <a:spcPts val="800"/>
              </a:spcAft>
              <a:defRPr sz="1600">
                <a:solidFill>
                  <a:srgbClr val="F8FAFC"/>
                </a:solidFill>
                <a:latin typeface="Arial"/>
              </a:defRPr>
            </a:pPr>
            <a:r>
              <a:t>• Automatically inventories connected smart appliances.</a:t>
            </a:r>
          </a:p>
        </p:txBody>
      </p:sp>
      <p:sp>
        <p:nvSpPr>
          <p:cNvPr id="5" name="Rounded Rectangle 4"/>
          <p:cNvSpPr/>
          <p:nvPr/>
        </p:nvSpPr>
        <p:spPr>
          <a:xfrm>
            <a:off x="6309360" y="2103120"/>
            <a:ext cx="502920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43F5E"/>
                </a:solidFill>
                <a:latin typeface="Helvetica"/>
              </a:defRPr>
            </a:pPr>
            <a:r>
              <a:t>Surveillance Risk (Dual-Use)</a:t>
            </a:r>
          </a:p>
          <a:p>
            <a:pPr>
              <a:spcAft>
                <a:spcPts val="800"/>
              </a:spcAft>
              <a:defRPr sz="1600">
                <a:solidFill>
                  <a:srgbClr val="F8FAFC"/>
                </a:solidFill>
                <a:latin typeface="Arial"/>
              </a:defRPr>
            </a:pPr>
            <a:r>
              <a:t>• Timing side-channels can leak occupant presence and sleep.</a:t>
            </a:r>
          </a:p>
          <a:p>
            <a:pPr>
              <a:spcAft>
                <a:spcPts val="800"/>
              </a:spcAft>
              <a:defRPr sz="1600">
                <a:solidFill>
                  <a:srgbClr val="F8FAFC"/>
                </a:solidFill>
                <a:latin typeface="Arial"/>
              </a:defRPr>
            </a:pPr>
            <a:r>
              <a:t>• Mitigations require device-level random traffic padding.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1188720"/>
          </a:xfrm>
          <a:prstGeom prst="rect">
            <a:avLst/>
          </a:prstGeom>
          <a:noFill/>
        </p:spPr>
        <p:txBody>
          <a:bodyPr wrap="square" lIns="0" tIns="0" rIns="0" bIns="0">
            <a:spAutoFit/>
          </a:bodyPr>
          <a:lstStyle/>
          <a:p>
            <a:pPr>
              <a:spcAft>
                <a:spcPts val="400"/>
              </a:spcAft>
              <a:defRPr sz="1100" b="1">
                <a:solidFill>
                  <a:srgbClr val="38BDF8"/>
                </a:solidFill>
                <a:latin typeface="Helvetica"/>
              </a:defRPr>
            </a:pPr>
            <a:r>
              <a:t>SUMMARY &amp; OUTLOOK</a:t>
            </a:r>
          </a:p>
          <a:p>
            <a:pPr>
              <a:defRPr sz="3200" b="1">
                <a:solidFill>
                  <a:srgbClr val="F8FAFC"/>
                </a:solidFill>
                <a:latin typeface="Helvetica"/>
              </a:defRPr>
            </a:pPr>
            <a:r>
              <a:t>Key Takeaways &amp; Conclusion</a:t>
            </a:r>
          </a:p>
          <a:p>
            <a:pPr>
              <a:spcBef>
                <a:spcPts val="300"/>
              </a:spcBef>
              <a:defRPr sz="1500">
                <a:solidFill>
                  <a:srgbClr val="94A3B8"/>
                </a:solidFill>
                <a:latin typeface="Arial"/>
              </a:defRPr>
            </a:pPr>
            <a:r>
              <a:t>Summary of contributions and next steps</a:t>
            </a:r>
          </a:p>
        </p:txBody>
      </p:sp>
      <p:sp>
        <p:nvSpPr>
          <p:cNvPr id="4" name="Rounded Rectangle 3"/>
          <p:cNvSpPr/>
          <p:nvPr/>
        </p:nvSpPr>
        <p:spPr>
          <a:xfrm>
            <a:off x="8229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8BDF8"/>
                </a:solidFill>
                <a:latin typeface="Helvetica"/>
              </a:defRPr>
            </a:pPr>
            <a:r>
              <a:t>Timing Works</a:t>
            </a:r>
          </a:p>
          <a:p>
            <a:pPr>
              <a:spcAft>
                <a:spcPts val="800"/>
              </a:spcAft>
              <a:defRPr sz="1600">
                <a:solidFill>
                  <a:srgbClr val="F8FAFC"/>
                </a:solidFill>
                <a:latin typeface="Arial"/>
              </a:defRPr>
            </a:pPr>
            <a:r>
              <a:t>99.34% accuracy identifying 5 devices without decrypting payloads.</a:t>
            </a:r>
          </a:p>
        </p:txBody>
      </p:sp>
      <p:sp>
        <p:nvSpPr>
          <p:cNvPr id="5" name="Rounded Rectangle 4"/>
          <p:cNvSpPr/>
          <p:nvPr/>
        </p:nvSpPr>
        <p:spPr>
          <a:xfrm>
            <a:off x="44805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34D399"/>
                </a:solidFill>
                <a:latin typeface="Helvetica"/>
              </a:defRPr>
            </a:pPr>
            <a:r>
              <a:t>Clocks Matter</a:t>
            </a:r>
          </a:p>
          <a:p>
            <a:pPr>
              <a:spcAft>
                <a:spcPts val="800"/>
              </a:spcAft>
              <a:defRPr sz="1600">
                <a:solidFill>
                  <a:srgbClr val="F8FAFC"/>
                </a:solidFill>
                <a:latin typeface="Arial"/>
              </a:defRPr>
            </a:pPr>
            <a:r>
              <a:t>Median and 75th percentile IAT capture physical polling hardware.</a:t>
            </a:r>
          </a:p>
        </p:txBody>
      </p:sp>
      <p:sp>
        <p:nvSpPr>
          <p:cNvPr id="6" name="Rounded Rectangle 5"/>
          <p:cNvSpPr/>
          <p:nvPr/>
        </p:nvSpPr>
        <p:spPr>
          <a:xfrm>
            <a:off x="8138160" y="2103120"/>
            <a:ext cx="329184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92608" rIns="292608" tIns="292608" bIns="292608"/>
          <a:lstStyle/>
          <a:p>
            <a:pPr algn="ctr">
              <a:spcAft>
                <a:spcPts val="1200"/>
              </a:spcAft>
              <a:defRPr sz="2000" b="1">
                <a:solidFill>
                  <a:srgbClr val="FBBF24"/>
                </a:solidFill>
                <a:latin typeface="Helvetica"/>
              </a:defRPr>
            </a:pPr>
            <a:r>
              <a:t>Next Frontier</a:t>
            </a:r>
          </a:p>
          <a:p>
            <a:pPr>
              <a:spcAft>
                <a:spcPts val="800"/>
              </a:spcAft>
              <a:defRPr sz="1600">
                <a:solidFill>
                  <a:srgbClr val="F8FAFC"/>
                </a:solidFill>
                <a:latin typeface="Arial"/>
              </a:defRPr>
            </a:pPr>
            <a:r>
              <a:t>Harden open-set unknown rejection and implement router blocking.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